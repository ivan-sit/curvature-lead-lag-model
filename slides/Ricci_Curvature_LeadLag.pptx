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331720"/>
            <a:ext cx="219456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51460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F2937"/>
                </a:solidFill>
                <a:latin typeface="Calibri"/>
              </a:rPr>
              <a:t>Ricci Curvature on Directed Lead-Lag Networks</a:t>
            </a:r>
          </a:p>
          <a:p>
            <a:pPr>
              <a:spcBef>
                <a:spcPts val="1400"/>
              </a:spcBef>
            </a:pPr>
            <a:r>
              <a:rPr sz="2200" b="0" i="1">
                <a:solidFill>
                  <a:srgbClr val="2563EB"/>
                </a:solidFill>
                <a:latin typeface="Calibri"/>
              </a:rPr>
              <a:t>A structural study of factor-residualized information flow in US equities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89204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374151"/>
                </a:solidFill>
                <a:latin typeface="Calibri"/>
              </a:rPr>
              <a:t>Ivan Sit</a:t>
            </a:r>
          </a:p>
          <a:p>
            <a:r>
              <a:rPr sz="1500" b="0" i="0">
                <a:solidFill>
                  <a:srgbClr val="374151"/>
                </a:solidFill>
                <a:latin typeface="Calibri"/>
              </a:rPr>
              <a:t>UCLA Math 285J — Agentic AI for Autonomous Research in Quant Finance</a:t>
            </a:r>
          </a:p>
          <a:p>
            <a:r>
              <a:rPr sz="1500" b="0" i="0">
                <a:solidFill>
                  <a:srgbClr val="374151"/>
                </a:solidFill>
                <a:latin typeface="Calibri"/>
              </a:rPr>
              <a:t>Advisor: Prof. Mihai Cucuringu   ·   Target: ICAIF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"/>
              </a:rPr>
              <a:t>Curvature, on a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8288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2563EB"/>
                </a:solidFill>
                <a:latin typeface="Calibri"/>
              </a:rPr>
              <a:t>Is this relationship a fragile bridge, or a redundant interior link?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100" b="0" i="0">
                <a:solidFill>
                  <a:srgbClr val="374151"/>
                </a:solidFill>
                <a:latin typeface="Calibri"/>
              </a:rPr>
              <a:t>•  Ricci curvature measures how a space bends — and how diffusion flows through it.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374151"/>
                </a:solidFill>
                <a:latin typeface="Calibri"/>
              </a:rPr>
              <a:t>•  On a graph it lives on each edge and has one intuitive meaning:</a:t>
            </a:r>
          </a:p>
          <a:p>
            <a:pPr lvl="1">
              <a:spcAft>
                <a:spcPts val="600"/>
              </a:spcAft>
            </a:pPr>
            <a:r>
              <a:rPr sz="1800" b="0" i="0">
                <a:solidFill>
                  <a:srgbClr val="9CA3AF"/>
                </a:solidFill>
                <a:latin typeface="Calibri"/>
              </a:rPr>
              <a:t>–  Negative = a bridge: connects separated regions, structurally isolated.</a:t>
            </a:r>
          </a:p>
          <a:p>
            <a:pPr lvl="1">
              <a:spcAft>
                <a:spcPts val="600"/>
              </a:spcAft>
            </a:pPr>
            <a:r>
              <a:rPr sz="1800" b="0" i="0">
                <a:solidFill>
                  <a:srgbClr val="9CA3AF"/>
                </a:solidFill>
                <a:latin typeface="Calibri"/>
              </a:rPr>
              <a:t>–  Positive = an interior link: sits inside a dense cluster, many paths route around it.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374151"/>
                </a:solidFill>
                <a:latin typeface="Calibri"/>
              </a:rPr>
              <a:t>•  A parameter-free, local number with a global meaning.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9CA3AF"/>
                </a:solidFill>
                <a:latin typeface="Calibri"/>
              </a:rPr>
              <a:t>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"/>
              </a:rPr>
              <a:t>Why I got into Ricci curvature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8288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100" b="0" i="0">
                <a:solidFill>
                  <a:srgbClr val="374151"/>
                </a:solidFill>
                <a:latin typeface="Calibri"/>
              </a:rPr>
              <a:t>•  Sandhu, Georgiou &amp; Tannenbaum (Science Advances, 2016):</a:t>
            </a:r>
          </a:p>
          <a:p>
            <a:pPr lvl="1">
              <a:spcAft>
                <a:spcPts val="600"/>
              </a:spcAft>
            </a:pPr>
            <a:r>
              <a:rPr sz="1800" b="0" i="0">
                <a:solidFill>
                  <a:srgbClr val="9CA3AF"/>
                </a:solidFill>
                <a:latin typeface="Calibri"/>
              </a:rPr>
              <a:t>–  Ollivier-Ricci curvature on equity correlation networks rises before crashes.</a:t>
            </a:r>
          </a:p>
          <a:p>
            <a:pPr lvl="1">
              <a:spcAft>
                <a:spcPts val="600"/>
              </a:spcAft>
            </a:pPr>
            <a:r>
              <a:rPr sz="1800" b="0" i="0">
                <a:solidFill>
                  <a:srgbClr val="9CA3AF"/>
                </a:solidFill>
                <a:latin typeface="Calibri"/>
              </a:rPr>
              <a:t>–  Curvature as a systemic-fragility signal — geometry, not statistics.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374151"/>
                </a:solidFill>
                <a:latin typeface="Calibri"/>
              </a:rPr>
              <a:t>•  It reframes a market as a shape whose bottlenecks you can measure.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374151"/>
                </a:solidFill>
                <a:latin typeface="Calibri"/>
              </a:rPr>
              <a:t>•  That raised the question this project asks.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9CA3AF"/>
                </a:solidFill>
                <a:latin typeface="Calibri"/>
              </a:rPr>
              <a:t>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"/>
              </a:rPr>
              <a:t>The opening they left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8288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2563EB"/>
                </a:solidFill>
                <a:latin typeface="Calibri"/>
              </a:rPr>
              <a:t>One thing their construction could not see: direction.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100" b="0" i="0">
                <a:solidFill>
                  <a:srgbClr val="374151"/>
                </a:solidFill>
                <a:latin typeface="Calibri"/>
              </a:rPr>
              <a:t>•  Sandhu et al. built the network on an undirected correlation graph.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374151"/>
                </a:solidFill>
                <a:latin typeface="Calibri"/>
              </a:rPr>
              <a:t>•  But markets have direction — some names lead, others lag.</a:t>
            </a:r>
          </a:p>
          <a:p>
            <a:pPr lvl="1">
              <a:spcAft>
                <a:spcPts val="600"/>
              </a:spcAft>
            </a:pPr>
            <a:r>
              <a:rPr sz="1800" b="0" i="0">
                <a:solidFill>
                  <a:srgbClr val="9CA3AF"/>
                </a:solidFill>
                <a:latin typeface="Calibri"/>
              </a:rPr>
              <a:t>–  The symmetric correlation graph erases that asymmetry by construction.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983480"/>
            <a:ext cx="10607040" cy="1051560"/>
          </a:xfrm>
          <a:prstGeom prst="roundRect">
            <a:avLst/>
          </a:prstGeom>
          <a:solidFill>
            <a:srgbClr val="EFF2FB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 i="0">
                <a:solidFill>
                  <a:srgbClr val="2563EB"/>
                </a:solidFill>
                <a:latin typeface="Calibri"/>
              </a:rPr>
              <a:t>Research question 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Does Ricci curvature on the directed, residualized lead-lag network reveal structure the undirected correlation view cannot?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9CA3AF"/>
                </a:solidFill>
                <a:latin typeface="Calibri"/>
              </a:rPr>
              <a:t>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"/>
              </a:rPr>
              <a:t>The hypothesis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8288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2563EB"/>
                </a:solidFill>
                <a:latin typeface="Calibri"/>
              </a:rPr>
              <a:t>The claim is structural and falsifiable.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100" b="0" i="0">
                <a:solidFill>
                  <a:srgbClr val="374151"/>
                </a:solidFill>
                <a:latin typeface="Calibri"/>
              </a:rPr>
              <a:t>•  Negatively-curved edges in the directed, factor-residualized lead-lag network mark structurally isolated pairs —</a:t>
            </a:r>
          </a:p>
          <a:p>
            <a:pPr lvl="1">
              <a:spcAft>
                <a:spcPts val="600"/>
              </a:spcAft>
            </a:pPr>
            <a:r>
              <a:rPr sz="1800" b="0" i="0">
                <a:solidFill>
                  <a:srgbClr val="9CA3AF"/>
                </a:solidFill>
                <a:latin typeface="Calibri"/>
              </a:rPr>
              <a:t>–  bridges between otherwise separated regions of the market —</a:t>
            </a:r>
          </a:p>
          <a:p>
            <a:pPr lvl="1">
              <a:spcAft>
                <a:spcPts val="600"/>
              </a:spcAft>
            </a:pPr>
            <a:r>
              <a:rPr sz="1800" b="0" i="0">
                <a:solidFill>
                  <a:srgbClr val="9CA3AF"/>
                </a:solidFill>
                <a:latin typeface="Calibri"/>
              </a:rPr>
              <a:t>–  that correlation-, degree-, and undirected-curvature methods do not recover.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374151"/>
                </a:solidFill>
                <a:latin typeface="Calibri"/>
              </a:rPr>
              <a:t>•  Lead-lag asymmetry encodes structure the symmetric correlation graph destroys.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9CA3AF"/>
                </a:solidFill>
                <a:latin typeface="Calibri"/>
              </a:rPr>
              <a:t>Hypothesis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"/>
              </a:rPr>
              <a:t>The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8288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1">
                <a:solidFill>
                  <a:srgbClr val="2563EB"/>
                </a:solidFill>
                <a:latin typeface="Calibri"/>
              </a:rPr>
              <a:t>Six stages, fully automated.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3017520" cy="1005840"/>
          </a:xfrm>
          <a:prstGeom prst="roundRect">
            <a:avLst/>
          </a:prstGeom>
          <a:solidFill>
            <a:srgbClr val="EFF2FB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1F2937"/>
                </a:solidFill>
                <a:latin typeface="Calibri"/>
              </a:rPr>
              <a:t>Residualize returns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9CA3AF"/>
                </a:solidFill>
                <a:latin typeface="Calibri"/>
              </a:rPr>
              <a:t>remove market + sector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2331720"/>
            <a:ext cx="3017520" cy="1005840"/>
          </a:xfrm>
          <a:prstGeom prst="roundRect">
            <a:avLst/>
          </a:prstGeom>
          <a:solidFill>
            <a:srgbClr val="EFF2FB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1F2937"/>
                </a:solidFill>
                <a:latin typeface="Calibri"/>
              </a:rPr>
              <a:t>Directed lead-lag network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9CA3AF"/>
                </a:solidFill>
                <a:latin typeface="Calibri"/>
              </a:rPr>
              <a:t>BCR signed statistic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2331720"/>
            <a:ext cx="3017520" cy="1005840"/>
          </a:xfrm>
          <a:prstGeom prst="roundRect">
            <a:avLst/>
          </a:prstGeom>
          <a:solidFill>
            <a:srgbClr val="EFF2FB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1F2937"/>
                </a:solidFill>
                <a:latin typeface="Calibri"/>
              </a:rPr>
              <a:t>Four curvature objects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9CA3AF"/>
                </a:solidFill>
                <a:latin typeface="Calibri"/>
              </a:rPr>
              <a:t>plain → weighted aug. directed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22191" y="2679192"/>
            <a:ext cx="384048" cy="310896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7251192" y="2679192"/>
            <a:ext cx="384048" cy="310896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8988552" y="3383280"/>
            <a:ext cx="310896" cy="914400"/>
          </a:xfrm>
          <a:prstGeom prst="down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35240" y="4343400"/>
            <a:ext cx="3017520" cy="1005840"/>
          </a:xfrm>
          <a:prstGeom prst="roundRect">
            <a:avLst/>
          </a:prstGeom>
          <a:solidFill>
            <a:srgbClr val="EFF2FB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1F2937"/>
                </a:solidFill>
                <a:latin typeface="Calibri"/>
              </a:rPr>
              <a:t>Line graph  L(G)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9CA3AF"/>
                </a:solidFill>
                <a:latin typeface="Calibri"/>
              </a:rPr>
              <a:t>curvature pair-communities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4343400"/>
            <a:ext cx="3017520" cy="1005840"/>
          </a:xfrm>
          <a:prstGeom prst="roundRect">
            <a:avLst/>
          </a:prstGeom>
          <a:solidFill>
            <a:srgbClr val="EFF2FB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1F2937"/>
                </a:solidFill>
                <a:latin typeface="Calibri"/>
              </a:rPr>
              <a:t>Validation cascade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9CA3AF"/>
                </a:solidFill>
                <a:latin typeface="Calibri"/>
              </a:rPr>
              <a:t>curvature ≠ corr / degree?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343400"/>
            <a:ext cx="3017520" cy="100584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Structurally isolated pairs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E5EDFF"/>
                </a:solidFill>
                <a:latin typeface="Calibri"/>
              </a:rPr>
              <a:t>the structural output</a:t>
            </a:r>
          </a:p>
        </p:txBody>
      </p:sp>
      <p:sp>
        <p:nvSpPr>
          <p:cNvPr id="14" name="Left Arrow 13"/>
          <p:cNvSpPr/>
          <p:nvPr/>
        </p:nvSpPr>
        <p:spPr>
          <a:xfrm>
            <a:off x="7251192" y="4690872"/>
            <a:ext cx="384048" cy="310896"/>
          </a:xfrm>
          <a:prstGeom prst="lef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eft Arrow 14"/>
          <p:cNvSpPr/>
          <p:nvPr/>
        </p:nvSpPr>
        <p:spPr>
          <a:xfrm>
            <a:off x="3822191" y="4690872"/>
            <a:ext cx="384048" cy="310896"/>
          </a:xfrm>
          <a:prstGeom prst="lef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9CA3AF"/>
                </a:solidFill>
                <a:latin typeface="Calibri"/>
              </a:rPr>
              <a:t>What I did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"/>
              </a:rPr>
              <a:t>Step 1 — Residualized, directed network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8288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100" b="0" i="0">
                <a:solidFill>
                  <a:srgbClr val="374151"/>
                </a:solidFill>
                <a:latin typeface="Calibri"/>
              </a:rPr>
              <a:t>•  Residualize first: on raw returns, market + sector dominate the graph —</a:t>
            </a:r>
          </a:p>
          <a:p>
            <a:pPr lvl="1">
              <a:spcAft>
                <a:spcPts val="600"/>
              </a:spcAft>
            </a:pPr>
            <a:r>
              <a:rPr sz="1800" b="0" i="0">
                <a:solidFill>
                  <a:srgbClr val="9CA3AF"/>
                </a:solidFill>
                <a:latin typeface="Calibri"/>
              </a:rPr>
              <a:t>–  otherwise curvature just rediscovers GICS sectors (instructor requirement).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374151"/>
                </a:solidFill>
                <a:latin typeface="Calibri"/>
              </a:rPr>
              <a:t>•  Edge weight = BCR signed lead-lag:  w(i→j) = ρ_ij(τ*) − ρ_ji(τ*).</a:t>
            </a:r>
          </a:p>
          <a:p>
            <a:pPr lvl="1">
              <a:spcAft>
                <a:spcPts val="600"/>
              </a:spcAft>
            </a:pPr>
            <a:r>
              <a:rPr sz="1800" b="0" i="0">
                <a:solidFill>
                  <a:srgbClr val="9CA3AF"/>
                </a:solidFill>
                <a:latin typeface="Calibri"/>
              </a:rPr>
              <a:t>–  τ* = the lag of peak signal, picked per pair; the candidate horizons are on the next slide.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374151"/>
                </a:solidFill>
                <a:latin typeface="Calibri"/>
              </a:rPr>
              <a:t>•  Intraday: within-day estimator (lag pairs never cross the overnight gap).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9CA3AF"/>
                </a:solidFill>
                <a:latin typeface="Calibri"/>
              </a:rPr>
              <a:t>What I did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"/>
              </a:rPr>
              <a:t>Step 2 — Four curvature objects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8288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1">
                <a:solidFill>
                  <a:srgbClr val="2563EB"/>
                </a:solidFill>
                <a:latin typeface="Calibri"/>
              </a:rPr>
              <a:t>One ablation, from pure degree to full directed curvature.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377440"/>
          <a:ext cx="106070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297680"/>
                <a:gridCol w="30175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Object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What it measures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Plain directed Forman</a:t>
                      </a:r>
                    </a:p>
                    <a:p>
                      <a:pPr algn="l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4 − deg_in − deg_out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only the two endpoints' link counts — pure connectivity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Degree BASELINE</a:t>
                      </a:r>
                    </a:p>
                    <a:p>
                      <a:pPr algn="l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(no higher-order signal)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Triangle-augmented</a:t>
                      </a:r>
                    </a:p>
                    <a:p>
                      <a:pPr algn="l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F# = F + 3m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+3 for every triangle the edge sits inside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Higher-order:</a:t>
                      </a:r>
                    </a:p>
                    <a:p>
                      <a:pPr algn="l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isolates the 3m term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Weighted augmented</a:t>
                      </a:r>
                    </a:p>
                    <a:p>
                      <a:pPr algn="l"/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directed Forman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lead-lag strength + triangles + edge direction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MAIN object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Ollivier-Ricci</a:t>
                      </a:r>
                    </a:p>
                    <a:p>
                      <a:pPr algn="l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(optimal transport)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cost to morph one node's neighborhood into the other's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Robustness / contrast</a:t>
                      </a:r>
                    </a:p>
                    <a:p>
                      <a:pPr algn="l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(Sandhu's)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7150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CA3AF"/>
                </a:solidFill>
                <a:latin typeface="Calibri"/>
              </a:rPr>
              <a:t>Plain Forman is an exact function of endpoint degrees — the baseline the rest must beat.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9CA3AF"/>
                </a:solidFill>
                <a:latin typeface="Calibri"/>
              </a:rPr>
              <a:t>What I did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"/>
              </a:rPr>
              <a:t>Step 3 — The validation cascade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8288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2563EB"/>
                </a:solidFill>
                <a:latin typeface="Calibri"/>
              </a:rPr>
              <a:t>This cascade is the methodological core.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100" b="0" i="0">
                <a:solidFill>
                  <a:srgbClr val="374151"/>
                </a:solidFill>
                <a:latin typeface="Calibri"/>
              </a:rPr>
              <a:t>•  Goal: prove curvature is not a re-skin of correlation, degree, or sector.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374151"/>
                </a:solidFill>
                <a:latin typeface="Calibri"/>
              </a:rPr>
              <a:t>•  Spearman(F, |ρ|) — must be small.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374151"/>
                </a:solidFill>
                <a:latin typeface="Calibri"/>
              </a:rPr>
              <a:t>•  Top-K Jaccard vs correlation-ranked pairs — must be small.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374151"/>
                </a:solidFill>
                <a:latin typeface="Calibri"/>
              </a:rPr>
              <a:t>•  Degree-preserving configuration-model null (z-scores).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374151"/>
                </a:solidFill>
                <a:latin typeface="Calibri"/>
              </a:rPr>
              <a:t>•  Residual orthogonalization — regress out degree &amp; |ρ|, keep the rest.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374151"/>
                </a:solidFill>
                <a:latin typeface="Calibri"/>
              </a:rPr>
              <a:t>•  Benjamini–Hochberg + strict train / validate / test split.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9CA3AF"/>
                </a:solidFill>
                <a:latin typeface="Calibri"/>
              </a:rPr>
              <a:t>What I did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"/>
              </a:rPr>
              <a:t>Data — all institutional (WRDS)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8288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1">
                <a:solidFill>
                  <a:srgbClr val="2563EB"/>
                </a:solidFill>
                <a:latin typeface="Calibri"/>
              </a:rPr>
              <a:t>Every network is built on factor-residualized returns.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377440"/>
          <a:ext cx="106070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937760"/>
                <a:gridCol w="38404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What it's for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CRSP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daily S&amp;P 500 returns, 2000–2024</a:t>
                      </a:r>
                    </a:p>
                    <a:p>
                      <a:pPr algn="l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(survivorship-correct)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daily-frequency robustness check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Compustat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GICS sector classifications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residualize returns; sector-boundary tests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TAQ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30-min intraday bars, full-year 2019</a:t>
                      </a:r>
                    </a:p>
                    <a:p>
                      <a:pPr algn="l"/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(~155 large-caps)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the HEADLINE network — where lead-lag lives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7150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CA3AF"/>
                </a:solidFill>
                <a:latin typeface="Calibri"/>
              </a:rPr>
              <a:t>Intraday is the main result; daily is the robustness check.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9CA3AF"/>
                </a:solidFill>
                <a:latin typeface="Calibri"/>
              </a:rPr>
              <a:t>What I did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"/>
              </a:rPr>
              <a:t>Two regimes — two time horizons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8288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1">
                <a:solidFill>
                  <a:srgbClr val="2563EB"/>
                </a:solidFill>
                <a:latin typeface="Calibri"/>
              </a:rPr>
              <a:t>The same method, run at two horizons — no weekly or monthly.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377440"/>
          <a:ext cx="106070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114800"/>
                <a:gridCol w="38404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Intraday  (headline)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Daily  (robustness)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Frequency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30-min bars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close-to-close daily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Lead-lag horizon  τ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1–3 bars  =  30 / 60 / 90 min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1–5 trading days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Universe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~155 large-caps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S&amp;P 500 (point-in-time)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Window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full-year 2019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2000–2024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7150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CA3AF"/>
                </a:solidFill>
                <a:latin typeface="Calibri"/>
              </a:rPr>
              <a:t>Intraday is where lead-lag is strongest, so it carries the headline; daily is the robustness check.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9CA3AF"/>
                </a:solidFill>
                <a:latin typeface="Calibri"/>
              </a:rPr>
              <a:t>What I did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743200"/>
            <a:ext cx="164592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92608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563EB"/>
                </a:solidFill>
                <a:latin typeface="Calibri"/>
              </a:rPr>
              <a:t>RESULTS</a:t>
            </a:r>
          </a:p>
          <a:p>
            <a:pPr>
              <a:spcBef>
                <a:spcPts val="600"/>
              </a:spcBef>
            </a:pPr>
            <a:r>
              <a:rPr sz="3400" b="1" i="0">
                <a:solidFill>
                  <a:srgbClr val="1F2937"/>
                </a:solidFill>
                <a:latin typeface="Calibri"/>
              </a:rPr>
              <a:t>The structural result holds.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"/>
              </a:rPr>
              <a:t>Curvature is not correlation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8288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1">
                <a:solidFill>
                  <a:srgbClr val="2563EB"/>
                </a:solidFill>
                <a:latin typeface="Calibri"/>
              </a:rPr>
              <a:t>The pairs curvature flags are not the pairs correlation flags.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377440"/>
          <a:ext cx="106070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737360"/>
                <a:gridCol w="48463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Top-K Jaccard vs correlation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≈ 0.0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the two methods pick almost no pairs in common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Spearman(F, |ρ|)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0.18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curvature rank barely tracks correlation (≪ 0.8)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7150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CA3AF"/>
                </a:solidFill>
                <a:latin typeface="Calibri"/>
              </a:rPr>
              <a:t>Significance: curvature is not a re-skin of correlation — it surfaces genuinely different structure. This distinctness IS the headline result.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9CA3AF"/>
                </a:solidFill>
                <a:latin typeface="Calibri"/>
              </a:rPr>
              <a:t>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"/>
              </a:rPr>
              <a:t>A clean degree ablation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8288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1">
                <a:solidFill>
                  <a:srgbClr val="2563EB"/>
                </a:solidFill>
                <a:latin typeface="Calibri"/>
              </a:rPr>
              <a:t>Does the curvature carry anything beyond node connectivity?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377440"/>
          <a:ext cx="106070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194560"/>
                <a:gridCol w="49377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Object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R² on degree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Plain Forman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374151"/>
                          </a:solidFill>
                          <a:latin typeface="Calibri"/>
                        </a:rPr>
                        <a:t>100% explained by degree — pure baseline, by design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Augmented Forman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0.56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~44% is NOT degree → genuinely higher-order signal</a:t>
                      </a:r>
                    </a:p>
                  </a:txBody>
                  <a:tcPr anchor="ctr">
                    <a:solidFill>
                      <a:srgbClr val="EFF2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7150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CA3AF"/>
                </a:solidFill>
                <a:latin typeface="Calibri"/>
              </a:rPr>
              <a:t>Significance: plain Forman = pure degree (proves the test is calibrated); the augmented object adds real higher-order structure the +3m triangle term captures.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9CA3AF"/>
                </a:solidFill>
                <a:latin typeface="Calibri"/>
              </a:rPr>
              <a:t>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"/>
              </a:rPr>
              <a:t>The network is triangle-sparse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8288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2563EB"/>
                </a:solidFill>
                <a:latin typeface="Calibri"/>
              </a:rPr>
              <a:t>A finding, not a bug.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100" b="0" i="0">
                <a:solidFill>
                  <a:srgbClr val="374151"/>
                </a:solidFill>
                <a:latin typeface="Calibri"/>
              </a:rPr>
              <a:t>•  Most edges have few common-neighbor triangles; strict cyclic triangles ≈ 0.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374151"/>
                </a:solidFill>
                <a:latin typeface="Calibri"/>
              </a:rPr>
              <a:t>•  Only ~1% of triangles fall within a GICS sector.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374151"/>
                </a:solidFill>
                <a:latin typeface="Calibri"/>
              </a:rPr>
              <a:t>•  Two honest consequences:</a:t>
            </a:r>
          </a:p>
          <a:p>
            <a:pPr lvl="1">
              <a:spcAft>
                <a:spcPts val="600"/>
              </a:spcAft>
            </a:pPr>
            <a:r>
              <a:rPr sz="1800" b="0" i="0">
                <a:solidFill>
                  <a:srgbClr val="9CA3AF"/>
                </a:solidFill>
                <a:latin typeface="Calibri"/>
              </a:rPr>
              <a:t>–  AFRC community separability is intrinsically limited (Fesser–Weber–Lambiotte).</a:t>
            </a:r>
          </a:p>
          <a:p>
            <a:pPr lvl="1">
              <a:spcAft>
                <a:spcPts val="600"/>
              </a:spcAft>
            </a:pPr>
            <a:r>
              <a:rPr sz="1800" b="0" i="0">
                <a:solidFill>
                  <a:srgbClr val="9CA3AF"/>
                </a:solidFill>
                <a:latin typeface="Calibri"/>
              </a:rPr>
              <a:t>–  The structure curvature surfaces is cross-sector — not aligned with GICS.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9CA3AF"/>
                </a:solidFill>
                <a:latin typeface="Calibri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"/>
              </a:rPr>
              <a:t>What it means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8288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100" b="0" i="0">
                <a:solidFill>
                  <a:srgbClr val="374151"/>
                </a:solidFill>
                <a:latin typeface="Calibri"/>
              </a:rPr>
              <a:t>•  A new structural lens: directed, residualized curvature surfaces pair structure correlation / degree / undirected methods miss.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374151"/>
                </a:solidFill>
                <a:latin typeface="Calibri"/>
              </a:rPr>
              <a:t>•  Directedness changes the geometry — the directed graph is provably distinct from its symmetrized version.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374151"/>
                </a:solidFill>
                <a:latin typeface="Calibri"/>
              </a:rPr>
              <a:t>•  Triangle sparsity is a first-class constraint for curvature methods in finance.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374151"/>
                </a:solidFill>
                <a:latin typeface="Calibri"/>
              </a:rPr>
              <a:t>•  This is a structural study — we make no predictive claim (Sandhu's precedent: structural-only is publishable).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9CA3AF"/>
                </a:solidFill>
                <a:latin typeface="Calibri"/>
              </a:rPr>
              <a:t>Implications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"/>
              </a:rPr>
              <a:t>Where this could go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8288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2563EB"/>
                </a:solidFill>
                <a:latin typeface="Calibri"/>
              </a:rPr>
              <a:t>The structural toolkit is not tied to one construction.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100" b="0" i="0">
                <a:solidFill>
                  <a:srgbClr val="374151"/>
                </a:solidFill>
                <a:latin typeface="Calibri"/>
              </a:rPr>
              <a:t>•  Maybe not lead-lag at all — apply the same directed-curvature tools to other market graphs and relations.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374151"/>
                </a:solidFill>
                <a:latin typeface="Calibri"/>
              </a:rPr>
              <a:t>•  Directed line-graph &amp; directed AFRC-gap theory (open problems).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374151"/>
                </a:solidFill>
                <a:latin typeface="Calibri"/>
              </a:rPr>
              <a:t>•  Multi-frequency replication; curvature dynamics through 2020 stress.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374151"/>
                </a:solidFill>
                <a:latin typeface="Calibri"/>
              </a:rPr>
              <a:t>•  Write-up → 8-page ACM sigconf for ICAIF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9CA3AF"/>
                </a:solidFill>
                <a:latin typeface="Calibri"/>
              </a:rPr>
              <a:t>Outlook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55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