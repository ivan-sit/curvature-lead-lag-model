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331720"/>
            <a:ext cx="219456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5146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2937"/>
                </a:solidFill>
                <a:latin typeface="Calibri"/>
              </a:rPr>
              <a:t>CRISP: Curvature of Residualized, Signed Lead-Lag Pairs</a:t>
            </a:r>
          </a:p>
          <a:p>
            <a:pPr>
              <a:spcBef>
                <a:spcPts val="1400"/>
              </a:spcBef>
            </a:pPr>
            <a:r>
              <a:rPr sz="2200" b="0" i="1">
                <a:solidFill>
                  <a:srgbClr val="2563EB"/>
                </a:solidFill>
                <a:latin typeface="Calibri"/>
              </a:rPr>
              <a:t>Directed Forman-Ricci curvature as a structural lens on US equity information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374151"/>
                </a:solidFill>
                <a:latin typeface="Calibri"/>
              </a:rPr>
              <a:t>Ivan Sit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UCLA Math 285J — Agentic AI for Autonomous Research in Quant Finance</a:t>
            </a:r>
          </a:p>
          <a:p>
            <a:r>
              <a:rPr sz="1500" b="0" i="0">
                <a:solidFill>
                  <a:srgbClr val="374151"/>
                </a:solidFill>
                <a:latin typeface="Calibri"/>
              </a:rPr>
              <a:t>Advisor: Prof. Mihai Cucuringu   ·   Mid-project seminar, June 2026   ·   Target: ICAIF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Curvature, on a graph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Is this relationship a fragile bridge, or a redundant interior link?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Ricci curvature measures how a space bends — and how diffusion flows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 a graph it lives on each edge and has one intuitive meaning: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Negative = a bridge: connects separated regions, structurally isolated.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Positive = an interior link: sits inside a dense cluster, many paths route around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 parameter-free, local number with a global meaning.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Why I got into Ricci curvature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Sandhu, Georgiou &amp; Tannenbaum (Science Advances, 2016):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Ollivier-Ricci curvature on equity correlation networks rises before crashes.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Curvature as a systemic-fragility signal — geometry, not statistics.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 reframes a market as a shape whose bottlenecks you can measure.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That raised the question this project asks.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opening they left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One thing their construction could not see: direction.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Sandhu et al. built the network on an undirected correlation graph.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But markets have direction — some names lead, others lag.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symmetric correlation graph erases that asymmetry by construction.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4983480"/>
            <a:ext cx="10607040" cy="105156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ctr"/>
            <a:r>
              <a:rPr sz="1400" b="1" i="0">
                <a:solidFill>
                  <a:srgbClr val="2563EB"/>
                </a:solidFill>
                <a:latin typeface="Calibri"/>
              </a:rPr>
              <a:t>Research question   </a:t>
            </a:r>
            <a:r>
              <a:rPr sz="1700" b="1" i="0">
                <a:solidFill>
                  <a:srgbClr val="1F2937"/>
                </a:solidFill>
                <a:latin typeface="Calibri"/>
              </a:rPr>
              <a:t>Does Ricci curvature on the directed, residualized lead-lag network reveal structure the undirected correlation view cannot?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Motivation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Both falsifiable. The paper's claim rests on H1; H2 is exploratory.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42416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H1 — Structural  (primary)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H2 — Predictive  (secondary)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Negatively-curved pairs in the directed, residualized lead-lag network are structurally distinct — bridges that correlation, degree, and undirected curvature do not recover.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Those same pairs also carry out-of-sample directional information: today's leader predicts tomorrow's lagger, beyond the baselines.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We answer both at the 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Hypothesis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Related literature &amp; contribution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Gap: nobody has put directed curvature on a residualized lead-lag graph.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062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Prior work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did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CRISP adds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Sandhu et al. 2016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 on undirected correlation nets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lead-lag +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2003; Samal 2018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Forman / augmented curvature on graphs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directed, weighted, residualized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Bennett–Cucuringu–Reinert 2022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signed lead-lag estimator + significance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adopted as the edge 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Tian–Lubberts–Weber 2025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line-graph curvature clustering (undirected)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pair-space view on L(G)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Contribution: the directed-vs-undirected and Forman-vs-Ollivier contrasts, on factor-residualized returns — a structural extension of Sandhu.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Related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Six stages, fully automated.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Residualize returns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remove market + sector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Directed lead-lag network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BCR signed statistic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233172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Four curvature objects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plain → weighted aug. directed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22191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7251192" y="2679192"/>
            <a:ext cx="384048" cy="310896"/>
          </a:xfrm>
          <a:prstGeom prst="righ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own Arrow 9"/>
          <p:cNvSpPr/>
          <p:nvPr/>
        </p:nvSpPr>
        <p:spPr>
          <a:xfrm>
            <a:off x="8988552" y="3383280"/>
            <a:ext cx="310896" cy="914400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Line graph  L(G)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pair-communities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4343400"/>
            <a:ext cx="3017520" cy="1005840"/>
          </a:xfrm>
          <a:prstGeom prst="roundRect">
            <a:avLst/>
          </a:prstGeom>
          <a:solidFill>
            <a:srgbClr val="EFF2F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1F2937"/>
                </a:solidFill>
                <a:latin typeface="Calibri"/>
              </a:rPr>
              <a:t>Validation cascade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9CA3AF"/>
                </a:solidFill>
                <a:latin typeface="Calibri"/>
              </a:rPr>
              <a:t>curvature ≠ corr / degree?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343400"/>
            <a:ext cx="3017520" cy="1005840"/>
          </a:xfrm>
          <a:prstGeom prst="roundRect">
            <a:avLst/>
          </a:prstGeom>
          <a:solidFill>
            <a:srgbClr val="2563EB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Structurally isolated pairs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E5EDFF"/>
                </a:solidFill>
                <a:latin typeface="Calibri"/>
              </a:rPr>
              <a:t>the structural output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7251192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eft Arrow 14"/>
          <p:cNvSpPr/>
          <p:nvPr/>
        </p:nvSpPr>
        <p:spPr>
          <a:xfrm>
            <a:off x="3822191" y="4690872"/>
            <a:ext cx="384048" cy="310896"/>
          </a:xfrm>
          <a:prstGeom prst="left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1 — Residualized, directed network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Residualize first: on raw returns, market + sector dominate the graph —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otherwise curvature just rediscovers GICS sectors (instructor requirement).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Edge weight = BCR signed lead-lag:  w(i→j) = ρ_ij(τ*) − ρ_ji(τ*).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τ* = the lag of peak signal, picked per pair; the candidate horizons are on the next slide.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time horizons: daily close-to-close, and intraday 30-min.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Intraday uses a within-day estimator — lag pairs never cross the overnight gap.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2 — Four curvature objects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One ablation, from pure degree to full directed curvature.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29768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4 − deg_in − deg_out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only the two endpoints' link counts — pure connectivity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Degree BASELINE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(no higher-order signal)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Triangle-augmented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F# = F + 3m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+3 for every triangle the edge sits inside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Higher-order: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isolates the 3m term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strength + triangles + edge direction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MAIN object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(optimal transport)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cost to morph one node's neighborhood into the other's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Robustness / contrast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(Sandhu's)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Plain Forman is an exact function of endpoint degrees — the baseline the rest must beat.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Step 3 — The validation cascade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This cascade is the methodological core.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Goal: prove curvature is not a re-skin of correlation, degree, or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Spearman(F, |ρ|)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Top-K Jaccard vs correlation-ranked pairs — must be small.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Degree-preserving configuration-model null (z-scores).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Residual orthogonalization — regress out degree &amp; |ρ|, keep the rest.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Benjamini–Hochberg + strict train / validate / test split.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Data — all institutional (WRDS)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Every network is built on factor-residualized returns.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9377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it's for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CRSP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daily S&amp;P 500 returns, 2000–2024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(survivorship-correct)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+ 25-yr predictive walk-forward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Compustat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GICS sector classifications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residualize returns; sector-boundary tests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TAQ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30-min intraday bars, 2019 only</a:t>
                      </a:r>
                    </a:p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(~155 large-caps)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high-frequency cross-check (lead-lag is strongest)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Why TAQ is 2019 only: 25 years of 30-min TAQ ≈ 100+ hours of pulls (TAQ is ~15B rows/year). Daily covers the full 2000–2024; intraday 2019 is the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Two regimes — two time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same method, run at two horizons — no weekly or monthly.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 (headline)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 (robustness)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30-min bars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close-to-close daily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Lead-lag horizon  τ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1–3 bars  =  30 / 60 / 90 min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1–5 trading days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~155 large-caps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S&amp;P 500 (point-in-time)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Window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full-year 2019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Coverage: daily spans the full 2000–2024; intraday is 2019 only (25 yrs of 30-min TAQ ≈ 100+ h of pulls), so it serves as the high-frequency cross-check.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 I did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743200"/>
            <a:ext cx="164592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Calibri"/>
              </a:rPr>
              <a:t>RESULTS</a:t>
            </a:r>
          </a:p>
          <a:p>
            <a:pPr>
              <a:spcBef>
                <a:spcPts val="600"/>
              </a:spcBef>
            </a:pPr>
            <a:r>
              <a:rPr sz="3400" b="1" i="0">
                <a:solidFill>
                  <a:srgbClr val="1F2937"/>
                </a:solidFill>
                <a:latin typeface="Calibri"/>
              </a:rPr>
              <a:t>Two hypotheses, two answers.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Curvature is not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The pairs curvature flags are not the pairs correlation flags —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Top-K Jaccard vs correlation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≈ 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near-disjoint pair sets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Spearman(F, |ρ|)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barely tracks |ρ|  (≪ 0.8)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curvature is not a re-skin of correlation. Holds on the 2019 intraday graph AND the full 2000–2024 daily span. This distinctness IS the headline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four objects,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All four pick pairs disjoint from correlation (Jaccard ≈ 0).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920240"/>
                <a:gridCol w="155448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Spearman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R² on degree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mean IC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directed Forman  (baseline)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Weighted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Weighted augmented directed  (MAIN)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0.03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Ollivier-Ricci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0.24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15.9 s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Best tradeoff = weighted-augmented Forman: real higher-order signal (44% non-degree) at ~0 cost. Ollivier carries the most non-degree signal but at ~600× the compute and no IC gain. None predicts (IC ≈ 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 clean degree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Does curvature carry anything beyond connectivity? — checked at both horizons.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737360"/>
                <a:gridCol w="18288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Object  (R² on degree)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Plain Forman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100% degree — pure baseline, by design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Augmented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0.18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44–82% is NOT degree → higher-order signal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Significance: plain Forman = pure degree (calibration ✓); the augmented object adds real higher-order structure at both horizons — even more on daily (~82% non-degree).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network is triangle-sparse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A finding, not a bug.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Most edges have few common-neighbor triangles; strict cyclic triangles ≈ 0.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Only ~1% of triangles fall within a GICS sector.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honest consequences: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AFRC community separability is intrinsically limited (Fesser–Weber–Lambiotte).</a:t>
            </a:r>
          </a:p>
          <a:p>
            <a:pPr lvl="1">
              <a:spcAft>
                <a:spcPts val="600"/>
              </a:spcAft>
            </a:pPr>
            <a:r>
              <a:rPr sz="1800" b="0" i="0">
                <a:solidFill>
                  <a:srgbClr val="9CA3AF"/>
                </a:solidFill>
                <a:latin typeface="Calibri"/>
              </a:rPr>
              <a:t>–  The structure curvature surfaces is cross-sector — not aligned with GICS.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The predictive test — both horizons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Tested at both horizons — intraday (2019) and daily (25-yr walk-forward).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01752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  (mean OOS IC)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Intraday 30-min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Daily close-to-close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2000–2024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Curvature (aug, directed)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+0.005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2937"/>
                          </a:solidFill>
                          <a:latin typeface="Calibri"/>
                        </a:rPr>
                        <a:t>−0.011  (CI &lt; 0)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Undirected Forman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+0.013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+0.002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+0.023  (CI &gt; 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−0.015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+0.007</a:t>
                      </a:r>
                    </a:p>
                  </a:txBody>
                  <a:tcPr anchor="ctr">
                    <a:solidFill>
                      <a:srgbClr val="EFF2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1500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CA3AF"/>
                </a:solidFill>
                <a:latin typeface="Calibri"/>
              </a:rPr>
              <a:t>Intraday: Forman leads but every CI spans zero. Daily (21 windows): curvature is significantly NEGATIVE and correlation does best. No predictive edge for curvature.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Results — H2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Did the two hypotheses hold?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2563EB"/>
                </a:solidFill>
                <a:latin typeface="Calibri"/>
              </a:rPr>
              <a:t>The paper stands on H1. H2 is reported transparently — across 25 years.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240280"/>
            <a:ext cx="5074920" cy="640080"/>
          </a:xfrm>
          <a:prstGeom prst="roundRect">
            <a:avLst/>
          </a:prstGeom>
          <a:solidFill>
            <a:srgbClr val="15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H1 — Structural distinctness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17520"/>
            <a:ext cx="5074920" cy="2926080"/>
          </a:xfrm>
          <a:prstGeom prst="roundRect">
            <a:avLst/>
          </a:prstGeom>
          <a:solidFill>
            <a:srgbClr val="ECFBF2"/>
          </a:solidFill>
          <a:ln w="12700">
            <a:solidFill>
              <a:srgbClr val="15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159E5B"/>
                </a:solidFill>
                <a:latin typeface="Calibri"/>
              </a:rPr>
              <a:t>✓  CONFIRMED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Jaccard 0, Spearman 0.07–0.18 vs correlation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augmented Forman: 44–82% non-degree signal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robust across 2019 intraday &amp; 25-yr daily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40280"/>
            <a:ext cx="5074920" cy="6400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H2 — Predictive edge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3017520"/>
            <a:ext cx="5074920" cy="2926080"/>
          </a:xfrm>
          <a:prstGeom prst="roundRect">
            <a:avLst/>
          </a:prstGeom>
          <a:solidFill>
            <a:srgbClr val="FDF4E6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/>
            <a:r>
              <a:rPr sz="2200" b="1" i="0">
                <a:solidFill>
                  <a:srgbClr val="D97706"/>
                </a:solidFill>
                <a:latin typeface="Calibri"/>
              </a:rPr>
              <a:t>✗  NOT SUPPORTED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Intraday 2019: Forman leads, but CIs span zero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Daily 25-yr: curvature negative, correlation best</a:t>
            </a:r>
          </a:p>
          <a:p>
            <a:pPr>
              <a:spcBef>
                <a:spcPts val="1000"/>
              </a:spcBef>
            </a:pPr>
            <a:r>
              <a:rPr sz="1500" b="0" i="0">
                <a:solidFill>
                  <a:srgbClr val="374151"/>
                </a:solidFill>
                <a:latin typeface="Calibri"/>
              </a:rPr>
              <a:t>•  no predictive edge; the claim rests on H1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Robustness &amp; ablations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The result is stress-tested, not cherry-picked.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Four-object ablation: plain (degree baseline) → augmented → weighted-directed →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Two horizons: intraday 30-min (2019) and daily close-to-close (2000–2024).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25-year walk-forward: 21 rolling windows, not a single train/test split.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Five baselines: correlation, cointegration, random, undirected Forman, Ollivier.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 convention (common-neighbor vs strict-cyclic) settled by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Agentic AI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What agentic AI did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Helped me research the idea — surveying the curvature and lead-lag literature, and coding the pipeline.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Its core role: linking curvature (graph geometry) to directed lead-lag networks (the finance side).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Framing and judgment stayed human.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Stated plainly — these shape what we can and can't claim.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Intraday is 2019 only (TAQ cost) — not a 25-year intraday panel.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Triangle-sparse network limits AFRC community separability (Fesser–Weber–Lambiotte).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are theoretically open — undirected reduction used.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Predictive IC evaluated at fixed k = 20; not pre-registered.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Daily universe is survivor-biased within each window (continuous-presence filter).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1">
                <a:solidFill>
                  <a:srgbClr val="2563EB"/>
                </a:solidFill>
                <a:latin typeface="Calibri"/>
              </a:rPr>
              <a:t>Underway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514600"/>
            <a:ext cx="10607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Multi-regime intraday robustness — pulling 2008 / 2015 / 2020 to join 2019 (crash, calm, COVID).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Agentic propose→test→reject orchestrator (built) — logs every accept/reject; the residualization ladder (market / sector / PCA) runs through it.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Directed line-graph &amp; directed curvature-gap theory (open; possible Weber collaboration).</a:t>
            </a:r>
          </a:p>
          <a:p>
            <a:pPr>
              <a:spcAft>
                <a:spcPts val="1200"/>
              </a:spcAft>
            </a:pPr>
            <a:r>
              <a:rPr sz="2100" b="0" i="0">
                <a:solidFill>
                  <a:srgbClr val="374151"/>
                </a:solidFill>
                <a:latin typeface="Calibri"/>
              </a:rPr>
              <a:t>•  Extend to an 8-page ACM sigconf — ICAIF 2026, deadline Aug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2937"/>
                </a:solidFill>
                <a:latin typeface="Calibri"/>
              </a:rPr>
              <a:t>Project Status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8288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1">
                <a:solidFill>
                  <a:srgbClr val="2563EB"/>
                </a:solidFill>
                <a:latin typeface="Calibri"/>
              </a:rPr>
              <a:t>Mid-project status — ~10 days to the final write-up.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77440"/>
          <a:ext cx="1060703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2004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✓  Completed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⟳  In progress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▢  Remaining before final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Full pipeline + 52 tests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Four curvature objects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Structural cascade (H1) ✓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Predictive test (H2): 2 horizons, 25 yrs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Agentic orchestrator (propose→test→reject)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Residualization-ladder ablation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Report + deck + talk script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Multi-regime intraday pull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(2008 / 2015 / 2020)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LaTeX/Overleaf main.tex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Bibliography → 20–25 refs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Directed line-graph theory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Final 8-page ICAIF write-up</a:t>
                      </a:r>
                    </a:p>
                    <a:p>
                      <a:pPr algn="l"/>
                      <a:r>
                        <a:rPr sz="1400" b="0" i="0">
                          <a:solidFill>
                            <a:srgbClr val="374151"/>
                          </a:solidFill>
                          <a:latin typeface="Calibri"/>
                        </a:rPr>
                        <a:t>Paper-quality figures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550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9CA3A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